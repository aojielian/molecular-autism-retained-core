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72BF8-9458-B1AB-48CE-5C9B5DED4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3FEDA5-BB49-3CCF-EA4B-27A104301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E538F5-17C4-E2CA-A834-A941FA81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8B076E-CCFB-62C6-68E5-0A1E56B3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F83459-80D9-BE3B-6DDB-6D4671C4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839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FD71A-0A57-5985-FE65-E8146BC4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A37CCC-DD57-D20F-7ED4-795D28C3C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AB7BA0-BB08-3C24-37D9-690EC4AE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B08B02-8250-4B2E-76E8-D70D7CF88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F5CB7E-773B-6597-E0CA-BC34E177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158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703E0-A1B7-2BE7-C34E-4CBBA2C0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F66E1E-7F97-8E3F-19B9-9871B372E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82AA8E-DC4C-9B73-BF72-3EB38ABA6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27C56A-AA11-1287-E716-7FB7F8D4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78DD4C-C8CC-50A0-6AFB-38A299FB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438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60A47-E680-D4D6-EA0A-CD3CDC3C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8D6B35-D62A-AFE1-6FCB-BD23FCEEA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81E6E7-E2BD-4DCE-0F3E-58E63A7D9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FCE54F-C446-2D97-4A44-CC2385960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0C5E10-9802-2635-65C6-A3C165BD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7F1468-1668-4D4A-26C6-A2EC340D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727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4C603-DEDC-E716-8204-C3B9F919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D0C31A-BF14-DCF3-1ECE-8E62B38E4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EDB3CC-9017-D64B-358E-0B0197B34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A0FEDD-6845-727F-F8EE-A61CAAF0A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6DAC36-3E97-4DC4-8297-10B908FD1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F58E24-E51E-C9C4-20FE-BC6EEA0E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E7194-0906-EB9C-733A-346B0F2A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0F70CB-75D6-568B-62B9-CF820840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719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7B290-F76D-BFB9-89BB-9EFBDC6EF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3FB336-A3F7-DF7F-C483-7130AF0F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34D77B-750A-F3DF-EF29-42738C9C2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6810B8-F1DE-3236-1ECB-30BF72E0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683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19F5B8-9000-B508-AE6F-E7C0D9F87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C87B8D-489B-1614-975E-5D549942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95A070-CA31-12FA-33A2-ABDF0127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5603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25E42-E0FE-2F66-B5BA-8421D5046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D80CA7-BF23-28C1-7360-986E914F0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1B760B-C4D4-B61D-7AB4-519D97281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2D59C2-E932-3CD1-B1A5-D61EA31F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00F5B9-5FE2-661E-57A2-6A0CD549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F38947-3405-9F18-496A-9C1B4E82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2914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CB430D-97F8-B84D-7BF6-4838D1A15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420389-42EA-CB27-E14A-0DF456E66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BD54DC-9977-F78C-51BA-25AAFDBA5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40A0E4-E36D-463F-B93A-7B8E05D46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B540C1-694E-4138-2BB3-FE0DD57CA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FB661D-D5BA-7602-E28A-D72A61E9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0905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0186E-9049-59F7-D402-DD331901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FBA90C-589D-D51C-D973-455A33ECE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30639-DF2C-9BCB-E410-C128418E1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E7DDD4-E2EF-9A76-0FCF-AA5FF0D8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2D5394-311A-0F5C-9295-8B6038AF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8565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828810-5B98-2EFF-8EBC-A7F1C7800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581801-78DC-80F5-B645-AE08D5E68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3088AB-9782-CA2E-0661-639320FEF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9FE877-8D2E-385E-E3C2-92EB4ACC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22C53A-4CAD-E1E9-240F-843D46A2D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510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9F82ED-0A2B-521F-0F2C-EC1917DF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1B0572-ECC1-F626-8FA3-BD9E105DA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13A93F-479B-34B5-D1A3-76A5EAD00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ED716-C0FE-9049-80BD-30325EF9AEA2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194567-6DF5-E227-D879-3B521EEE9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F50CAF-E5E8-A2B0-C38B-FD4B7FC55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C253B-787B-8F48-85D6-DA83209B34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372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64C33DCD-175D-EA96-7D39-3564612AD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9502" y="0"/>
            <a:ext cx="8052995" cy="4392543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088D034-8009-9FB9-1456-A7DDAFED4135}"/>
              </a:ext>
            </a:extLst>
          </p:cNvPr>
          <p:cNvSpPr txBox="1"/>
          <p:nvPr/>
        </p:nvSpPr>
        <p:spPr>
          <a:xfrm>
            <a:off x="66338" y="4392543"/>
            <a:ext cx="120593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Supplementary Figure S1. Workflow overview of retained-core discovery, cross-cohort validation, and external bulk-cortex analysis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5463E8-35CD-810D-2523-2757E4C4340D}"/>
              </a:ext>
            </a:extLst>
          </p:cNvPr>
          <p:cNvSpPr txBox="1"/>
          <p:nvPr/>
        </p:nvSpPr>
        <p:spPr>
          <a:xfrm>
            <a:off x="211566" y="4731097"/>
            <a:ext cx="117688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This schematic summarizes the analytical framework used in the study.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Module 1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shows the discovery-stage workflow in the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PsychENCODE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/Wamsley cohort, including global cortical profiling, microglial extraction, all-cluster auditing, retained-core definition, donor-level composition analyses, donor-paired internal state testing, and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differential expression analyses.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Module 2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summarizes cross-cohort validation in the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Velmeshev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single-nucleus RNA-seq dataset, including microglial extraction,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reclustering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, mapped-cluster comparison to discovery clusters 0 and 2, frozen candidate/reference program scoring, prespecified score-based validation metrics, directional concordance testing, and leave-one-metric-out stability analyses.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Module 3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shows the external validation framework in the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Gandal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2022 bulk-cortex dataset, including mapping of frozen candidate/reference genes, candidate/reference score testing, mixed-model ASD effect estimation, and leave-one-region-out sensitivity analyses. The bottom strip indicates supplementary mechanistic prioritization layers, including perturbation-based prioritization and TF-target enrichment, which are presented as supportive context rather than causal proof.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858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2B3D235-85C3-C209-D50C-FCC3FD89E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207" y="0"/>
            <a:ext cx="6493585" cy="50272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2F9796-1777-C73B-544A-3FB9C25C337F}"/>
              </a:ext>
            </a:extLst>
          </p:cNvPr>
          <p:cNvSpPr txBox="1"/>
          <p:nvPr/>
        </p:nvSpPr>
        <p:spPr>
          <a:xfrm>
            <a:off x="141643" y="4919008"/>
            <a:ext cx="11693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Supplementary Figure S2. Discovery-cohort audit and quality-control context for the all-cluster microglial analysis space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62485D-5B13-EED6-2294-5C9211C428C3}"/>
              </a:ext>
            </a:extLst>
          </p:cNvPr>
          <p:cNvSpPr txBox="1"/>
          <p:nvPr/>
        </p:nvSpPr>
        <p:spPr>
          <a:xfrm>
            <a:off x="141643" y="5257562"/>
            <a:ext cx="1190871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UMAP of the discovery-stage microglial analysis space colored by donor identity. This panel is provided to show that the global embedding is not dominated by any single donor and to place the retained-core analyses in donor-aware context.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Donor-level proportions across all discovery-stage microglial clusters. This panel provides descriptive all-cluster compositional context and is not intended as a primary inferential analysis.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Number of discovery-stage clusters assigned to each audit superclass after the all-cluster review.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Cluster-level lineage total scores used to contextualize retention and exclusion decisions across the discovery-stage analysis space. Together, these panels provide the quality-control and audit framework underlying the retained-core definition shown in Figure 1.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982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2F4ADF-99E1-BEE0-0BB7-88641F7FF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8364" y="0"/>
            <a:ext cx="6315272" cy="4539102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0229545-0B2E-E64F-1EE7-47C0BF460AA3}"/>
              </a:ext>
            </a:extLst>
          </p:cNvPr>
          <p:cNvSpPr txBox="1"/>
          <p:nvPr/>
        </p:nvSpPr>
        <p:spPr>
          <a:xfrm>
            <a:off x="263562" y="4488121"/>
            <a:ext cx="11664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Supplementary Figure S3. Validation-cohort microglial context and score-based supporting analyses in the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Velmeshev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dataset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8C4386-2CC5-C8F7-DF3E-7033265B5877}"/>
              </a:ext>
            </a:extLst>
          </p:cNvPr>
          <p:cNvSpPr txBox="1"/>
          <p:nvPr/>
        </p:nvSpPr>
        <p:spPr>
          <a:xfrm>
            <a:off x="0" y="4826675"/>
            <a:ext cx="1219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UMAP of validation-cohort microglia colored by validation subcluster identity.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Validation-cohort microglial cell counts by diagnosis. Panels A and B provide descriptive context for downstream validation analyses.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Donor-level all-microglia candidate-minus-reference scores in the validation cohort. ASD donors showed a positive effect estimate in the expected direction (beta = 0.106,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= 0.090).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Donor-level score-defined candidate proportion in the validation cohort. ASD donors showed a higher candidate-defined proportion (beta = 0.177,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= 0.037).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Donor-level score-defined candidate-versus-reference shift in the validation cohort. The estimated ASD effect was directionally positive but not statistically robust (beta = 0.022,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= 0.432). Together, these panels show that although mapped-cluster replication was weak, score-based analyses in the validation cohort remained directionally consistent with the candidate/reference remodeling axis described in the main text.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33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97F13C4-03E5-0556-8DE8-75BBAD0FA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7071" y="8068"/>
            <a:ext cx="4603287" cy="5155682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C66A779-4B34-136E-B5F5-3A228CA9B1B5}"/>
              </a:ext>
            </a:extLst>
          </p:cNvPr>
          <p:cNvSpPr txBox="1"/>
          <p:nvPr/>
        </p:nvSpPr>
        <p:spPr>
          <a:xfrm>
            <a:off x="141642" y="5095606"/>
            <a:ext cx="11908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Supplementary Figure S4. Perturbation-based prioritization highlights candidate reversal signals linked to the candidate/reference remodeling axis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A9B05C-74A2-0779-4628-53E581C976C0}"/>
              </a:ext>
            </a:extLst>
          </p:cNvPr>
          <p:cNvSpPr txBox="1"/>
          <p:nvPr/>
        </p:nvSpPr>
        <p:spPr>
          <a:xfrm>
            <a:off x="70821" y="5680381"/>
            <a:ext cx="1205035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Top primary perturbation-based reversal candidates identified from the candidate-oriented remodeling program.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Primary reversal scatter plot highlighting bidirectional candidate perturbations in the primary analysis. Highlighted signals include recurrent MAPK/BRAF-related candidates identified under the primary prioritization framework.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Sensitivity analysis based on pooled retained-core differential expression, shown as a complementary perturbation-prioritization layer. These results are presented as supplementary, hypothesis-generating evidence and should not be interpreted as proof of direct therapeutic reversal.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367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DE80A63-457B-3120-66AB-AA65C3A12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7023" y="0"/>
            <a:ext cx="4673985" cy="5234863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E7CEFD0-DD6F-8E68-374F-054F7A722EC0}"/>
              </a:ext>
            </a:extLst>
          </p:cNvPr>
          <p:cNvSpPr txBox="1"/>
          <p:nvPr/>
        </p:nvSpPr>
        <p:spPr>
          <a:xfrm>
            <a:off x="112954" y="5234863"/>
            <a:ext cx="119660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Supplementary Figure S5. TF-target enrichment prioritizes convergent regulators of the candidate-oriented remodeling program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BFEE6D-562C-7CF7-C0D6-56A3516640C5}"/>
              </a:ext>
            </a:extLst>
          </p:cNvPr>
          <p:cNvSpPr txBox="1"/>
          <p:nvPr/>
        </p:nvSpPr>
        <p:spPr>
          <a:xfrm>
            <a:off x="112954" y="5573417"/>
            <a:ext cx="116021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Top transcription factor target enrichments for the primary candidate-oriented program.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Top transcription factor target enrichments for pooled ASD-up genes across the retained microglial core.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Convergent transcription factors shared by the candidate-oriented program and pooled ASD-up genes. This panel is shown in a single-color format to emphasize convergence without implying a formal statistical subgrouping within the displayed factors. These analyses are provided as supplementary mechanistic prioritization and do not establish causal upstream regulation.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927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716</Words>
  <Application>Microsoft Macintosh PowerPoint</Application>
  <PresentationFormat>宽屏</PresentationFormat>
  <Paragraphs>10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Aojie</dc:creator>
  <cp:lastModifiedBy>Aojie</cp:lastModifiedBy>
  <cp:revision>2</cp:revision>
  <dcterms:created xsi:type="dcterms:W3CDTF">2026-03-15T14:50:32Z</dcterms:created>
  <dcterms:modified xsi:type="dcterms:W3CDTF">2026-03-15T16:12:47Z</dcterms:modified>
</cp:coreProperties>
</file>